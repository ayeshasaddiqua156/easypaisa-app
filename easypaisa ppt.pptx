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72" r:id="rId3"/>
    <p:sldId id="266" r:id="rId4"/>
    <p:sldId id="267" r:id="rId5"/>
    <p:sldId id="268" r:id="rId6"/>
    <p:sldId id="269" r:id="rId7"/>
    <p:sldId id="270" r:id="rId8"/>
    <p:sldId id="271" r:id="rId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-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5/10/2026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0B943">
              <a:alpha val="2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0B943">
              <a:alpha val="1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548640" y="548640"/>
            <a:ext cx="2560320" cy="640080"/>
          </a:xfrm>
          <a:prstGeom prst="roundRect">
            <a:avLst>
              <a:gd name="adj" fmla="val 14286"/>
            </a:avLst>
          </a:prstGeom>
          <a:solidFill>
            <a:srgbClr val="00B943"/>
          </a:solidFill>
        </p:spPr>
      </p:sp>
      <p:sp>
        <p:nvSpPr>
          <p:cNvPr id="5" name="Text 3"/>
          <p:cNvSpPr/>
          <p:nvPr/>
        </p:nvSpPr>
        <p:spPr>
          <a:xfrm>
            <a:off x="548640" y="548640"/>
            <a:ext cx="25603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 err="1">
                <a:solidFill>
                  <a:srgbClr val="FFFFFF"/>
                </a:solidFill>
              </a:rPr>
              <a:t>E</a:t>
            </a:r>
            <a:r>
              <a:rPr lang="en-US" sz="1800" b="1" dirty="0" err="1">
                <a:solidFill>
                  <a:srgbClr val="FFFFFF"/>
                </a:solidFill>
              </a:rPr>
              <a:t>asypaisa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68580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Easypaisa Application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2423160"/>
            <a:ext cx="6858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B9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JavaFX GUI Implementation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3657600" cy="0"/>
          </a:xfrm>
          <a:prstGeom prst="line">
            <a:avLst/>
          </a:prstGeom>
          <a:noFill/>
          <a:ln w="25400">
            <a:solidFill>
              <a:srgbClr val="00B9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46120"/>
            <a:ext cx="77724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A0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Object-Oriented Programming  (Assignment: 04 ) 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0A72AE0-1F4A-4304-383A-50D36680CC6D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943"/>
          </a:solidFill>
        </p:spPr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CCBB4FD1-6488-F876-025C-ACB005BAA9CB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B943"/>
          </a:solidFill>
        </p:spPr>
      </p:sp>
      <p:sp>
        <p:nvSpPr>
          <p:cNvPr id="4" name="Shape 16">
            <a:extLst>
              <a:ext uri="{FF2B5EF4-FFF2-40B4-BE49-F238E27FC236}">
                <a16:creationId xmlns:a16="http://schemas.microsoft.com/office/drawing/2014/main" id="{DAE7A91E-8586-898C-0DDC-D27986B6F5B3}"/>
              </a:ext>
            </a:extLst>
          </p:cNvPr>
          <p:cNvSpPr/>
          <p:nvPr/>
        </p:nvSpPr>
        <p:spPr>
          <a:xfrm>
            <a:off x="329188" y="3185160"/>
            <a:ext cx="1901943" cy="822955"/>
          </a:xfrm>
          <a:prstGeom prst="roundRect">
            <a:avLst>
              <a:gd name="adj" fmla="val 7619"/>
            </a:avLst>
          </a:prstGeom>
          <a:solidFill>
            <a:srgbClr val="E8F9EF"/>
          </a:solidFill>
        </p:spPr>
        <p:txBody>
          <a:bodyPr/>
          <a:lstStyle/>
          <a:p>
            <a:pPr algn="ctr"/>
            <a:r>
              <a:rPr lang="en-US" b="1" dirty="0">
                <a:latin typeface="Comic Sans MS" panose="030F0702030302020204" pitchFamily="66" charset="0"/>
              </a:rPr>
              <a:t>Ayesha Noor</a:t>
            </a:r>
            <a:br>
              <a:rPr lang="en-US" dirty="0"/>
            </a:b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FA25-BCS-022</a:t>
            </a:r>
          </a:p>
        </p:txBody>
      </p:sp>
      <p:sp>
        <p:nvSpPr>
          <p:cNvPr id="5" name="Shape 16">
            <a:extLst>
              <a:ext uri="{FF2B5EF4-FFF2-40B4-BE49-F238E27FC236}">
                <a16:creationId xmlns:a16="http://schemas.microsoft.com/office/drawing/2014/main" id="{516E8C23-EA7A-9240-BF5C-46FBE7FB58E7}"/>
              </a:ext>
            </a:extLst>
          </p:cNvPr>
          <p:cNvSpPr/>
          <p:nvPr/>
        </p:nvSpPr>
        <p:spPr>
          <a:xfrm>
            <a:off x="3621028" y="3215640"/>
            <a:ext cx="1901943" cy="838196"/>
          </a:xfrm>
          <a:prstGeom prst="roundRect">
            <a:avLst>
              <a:gd name="adj" fmla="val 7619"/>
            </a:avLst>
          </a:prstGeom>
          <a:solidFill>
            <a:srgbClr val="E8F9EF"/>
          </a:solidFill>
        </p:spPr>
        <p:txBody>
          <a:bodyPr/>
          <a:lstStyle/>
          <a:p>
            <a:pPr algn="ctr"/>
            <a:r>
              <a:rPr lang="en-US" b="1" dirty="0">
                <a:latin typeface="Comic Sans MS" panose="030F0702030302020204" pitchFamily="66" charset="0"/>
              </a:rPr>
              <a:t>Alryan</a:t>
            </a:r>
            <a:r>
              <a:rPr lang="en-US" dirty="0">
                <a:latin typeface="Comic Sans MS" panose="030F0702030302020204" pitchFamily="66" charset="0"/>
              </a:rPr>
              <a:t> </a:t>
            </a:r>
            <a:r>
              <a:rPr lang="en-US" b="1" dirty="0">
                <a:latin typeface="Comic Sans MS" panose="030F0702030302020204" pitchFamily="66" charset="0"/>
              </a:rPr>
              <a:t>Sajjad</a:t>
            </a:r>
            <a:br>
              <a:rPr lang="en-US" dirty="0"/>
            </a:b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FA25-BCS-052</a:t>
            </a:r>
          </a:p>
        </p:txBody>
      </p:sp>
      <p:sp>
        <p:nvSpPr>
          <p:cNvPr id="6" name="Shape 16">
            <a:extLst>
              <a:ext uri="{FF2B5EF4-FFF2-40B4-BE49-F238E27FC236}">
                <a16:creationId xmlns:a16="http://schemas.microsoft.com/office/drawing/2014/main" id="{498DA201-22C5-6EAE-6739-40CFBE36EB36}"/>
              </a:ext>
            </a:extLst>
          </p:cNvPr>
          <p:cNvSpPr/>
          <p:nvPr/>
        </p:nvSpPr>
        <p:spPr>
          <a:xfrm>
            <a:off x="6707128" y="3200403"/>
            <a:ext cx="1901943" cy="807712"/>
          </a:xfrm>
          <a:prstGeom prst="roundRect">
            <a:avLst>
              <a:gd name="adj" fmla="val 7619"/>
            </a:avLst>
          </a:prstGeom>
          <a:solidFill>
            <a:srgbClr val="E8F9EF"/>
          </a:solidFill>
        </p:spPr>
        <p:txBody>
          <a:bodyPr/>
          <a:lstStyle/>
          <a:p>
            <a:pPr algn="ctr"/>
            <a:r>
              <a:rPr lang="en-US" sz="1600" b="1" dirty="0">
                <a:latin typeface="Comic Sans MS" panose="030F0702030302020204" pitchFamily="66" charset="0"/>
              </a:rPr>
              <a:t>Ayesha </a:t>
            </a:r>
            <a:r>
              <a:rPr lang="en-US" sz="1600" b="1" dirty="0" err="1">
                <a:latin typeface="Comic Sans MS" panose="030F0702030302020204" pitchFamily="66" charset="0"/>
              </a:rPr>
              <a:t>Saddiqua</a:t>
            </a:r>
            <a:br>
              <a:rPr lang="en-US" dirty="0"/>
            </a:br>
            <a:r>
              <a:rPr lang="en-US" dirty="0">
                <a:solidFill>
                  <a:schemeClr val="accent3">
                    <a:lumMod val="50000"/>
                  </a:schemeClr>
                </a:solidFill>
              </a:rPr>
              <a:t>FA25-BCS-170</a:t>
            </a:r>
          </a:p>
        </p:txBody>
      </p:sp>
      <p:sp>
        <p:nvSpPr>
          <p:cNvPr id="7" name="Shape 35">
            <a:extLst>
              <a:ext uri="{FF2B5EF4-FFF2-40B4-BE49-F238E27FC236}">
                <a16:creationId xmlns:a16="http://schemas.microsoft.com/office/drawing/2014/main" id="{1D9B52C0-84A3-80DE-1DBF-81EC66998D3C}"/>
              </a:ext>
            </a:extLst>
          </p:cNvPr>
          <p:cNvSpPr/>
          <p:nvPr/>
        </p:nvSpPr>
        <p:spPr>
          <a:xfrm>
            <a:off x="1280160" y="2682240"/>
            <a:ext cx="0" cy="502920"/>
          </a:xfrm>
          <a:prstGeom prst="line">
            <a:avLst/>
          </a:prstGeom>
          <a:noFill/>
          <a:ln w="15240">
            <a:solidFill>
              <a:srgbClr val="00B943"/>
            </a:solidFill>
            <a:prstDash val="solid"/>
          </a:ln>
        </p:spPr>
      </p:sp>
      <p:sp>
        <p:nvSpPr>
          <p:cNvPr id="8" name="Shape 35">
            <a:extLst>
              <a:ext uri="{FF2B5EF4-FFF2-40B4-BE49-F238E27FC236}">
                <a16:creationId xmlns:a16="http://schemas.microsoft.com/office/drawing/2014/main" id="{1E74D7EB-AE7A-7302-9B87-9B2F8EB1EEC4}"/>
              </a:ext>
            </a:extLst>
          </p:cNvPr>
          <p:cNvSpPr/>
          <p:nvPr/>
        </p:nvSpPr>
        <p:spPr>
          <a:xfrm>
            <a:off x="7658100" y="2682240"/>
            <a:ext cx="0" cy="502920"/>
          </a:xfrm>
          <a:prstGeom prst="line">
            <a:avLst/>
          </a:prstGeom>
          <a:noFill/>
          <a:ln w="15240">
            <a:solidFill>
              <a:srgbClr val="00B943"/>
            </a:solidFill>
            <a:prstDash val="solid"/>
          </a:ln>
        </p:spPr>
      </p:sp>
      <p:sp>
        <p:nvSpPr>
          <p:cNvPr id="9" name="Shape 35">
            <a:extLst>
              <a:ext uri="{FF2B5EF4-FFF2-40B4-BE49-F238E27FC236}">
                <a16:creationId xmlns:a16="http://schemas.microsoft.com/office/drawing/2014/main" id="{AC8A2451-7A98-3B14-5C0E-4EE664D22196}"/>
              </a:ext>
            </a:extLst>
          </p:cNvPr>
          <p:cNvSpPr/>
          <p:nvPr/>
        </p:nvSpPr>
        <p:spPr>
          <a:xfrm>
            <a:off x="4503420" y="2682240"/>
            <a:ext cx="0" cy="502920"/>
          </a:xfrm>
          <a:prstGeom prst="line">
            <a:avLst/>
          </a:prstGeom>
          <a:noFill/>
          <a:ln w="15240">
            <a:solidFill>
              <a:srgbClr val="00B943"/>
            </a:solidFill>
            <a:prstDash val="solid"/>
          </a:ln>
        </p:spPr>
      </p:sp>
      <p:sp>
        <p:nvSpPr>
          <p:cNvPr id="10" name="Shape 12">
            <a:extLst>
              <a:ext uri="{FF2B5EF4-FFF2-40B4-BE49-F238E27FC236}">
                <a16:creationId xmlns:a16="http://schemas.microsoft.com/office/drawing/2014/main" id="{3595C21F-30C4-D403-CAC3-96EBED784ED0}"/>
              </a:ext>
            </a:extLst>
          </p:cNvPr>
          <p:cNvSpPr/>
          <p:nvPr/>
        </p:nvSpPr>
        <p:spPr>
          <a:xfrm>
            <a:off x="3116579" y="1348740"/>
            <a:ext cx="2743200" cy="777240"/>
          </a:xfrm>
          <a:prstGeom prst="roundRect">
            <a:avLst>
              <a:gd name="adj" fmla="val 11765"/>
            </a:avLst>
          </a:prstGeom>
          <a:solidFill>
            <a:srgbClr val="1A1A2E"/>
          </a:solidFill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chemeClr val="accent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anose="020B0502040204020203" pitchFamily="34" charset="0"/>
              </a:rPr>
              <a:t>Group Members</a:t>
            </a:r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56814E5D-3C2B-5B1F-2B96-D4FEFCAE1865}"/>
              </a:ext>
            </a:extLst>
          </p:cNvPr>
          <p:cNvSpPr/>
          <p:nvPr/>
        </p:nvSpPr>
        <p:spPr>
          <a:xfrm>
            <a:off x="1280160" y="2682240"/>
            <a:ext cx="1417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9250FF84-08C7-03CD-07C8-4A53535EAC96}"/>
              </a:ext>
            </a:extLst>
          </p:cNvPr>
          <p:cNvSpPr/>
          <p:nvPr/>
        </p:nvSpPr>
        <p:spPr>
          <a:xfrm>
            <a:off x="2697480" y="2682240"/>
            <a:ext cx="1417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0FA058F5-273D-6001-E093-1265F2A379EC}"/>
              </a:ext>
            </a:extLst>
          </p:cNvPr>
          <p:cNvSpPr/>
          <p:nvPr/>
        </p:nvSpPr>
        <p:spPr>
          <a:xfrm>
            <a:off x="4105651" y="2682240"/>
            <a:ext cx="1417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95F976BB-38B4-B7EB-6330-CB6A8AC7D2F9}"/>
              </a:ext>
            </a:extLst>
          </p:cNvPr>
          <p:cNvSpPr/>
          <p:nvPr/>
        </p:nvSpPr>
        <p:spPr>
          <a:xfrm>
            <a:off x="5522971" y="2677668"/>
            <a:ext cx="1417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E72EA8DA-D3BC-F398-285C-6C65BAE92B60}"/>
              </a:ext>
            </a:extLst>
          </p:cNvPr>
          <p:cNvSpPr/>
          <p:nvPr/>
        </p:nvSpPr>
        <p:spPr>
          <a:xfrm>
            <a:off x="6240780" y="2677668"/>
            <a:ext cx="1417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Shape 35">
            <a:extLst>
              <a:ext uri="{FF2B5EF4-FFF2-40B4-BE49-F238E27FC236}">
                <a16:creationId xmlns:a16="http://schemas.microsoft.com/office/drawing/2014/main" id="{C8FABBCA-E661-A9A2-EF09-B2C5B777251D}"/>
              </a:ext>
            </a:extLst>
          </p:cNvPr>
          <p:cNvSpPr/>
          <p:nvPr/>
        </p:nvSpPr>
        <p:spPr>
          <a:xfrm>
            <a:off x="4503420" y="2179320"/>
            <a:ext cx="0" cy="502920"/>
          </a:xfrm>
          <a:prstGeom prst="line">
            <a:avLst/>
          </a:prstGeom>
          <a:noFill/>
          <a:ln w="15240">
            <a:solidFill>
              <a:srgbClr val="00B94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350450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943"/>
          </a:solidFill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Objective: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E8F9EF"/>
          </a:solidFill>
        </p:spPr>
      </p:sp>
      <p:sp>
        <p:nvSpPr>
          <p:cNvPr id="6" name="Text 4"/>
          <p:cNvSpPr/>
          <p:nvPr/>
        </p:nvSpPr>
        <p:spPr>
          <a:xfrm>
            <a:off x="548640" y="1143000"/>
            <a:ext cx="7983989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300" i="1" dirty="0">
                <a:solidFill>
                  <a:srgbClr val="008A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"After downloading the EasyPaisa Application from the Play Store and using it by exploring all</a:t>
            </a:r>
            <a:endParaRPr lang="en-US" sz="1300" dirty="0"/>
          </a:p>
          <a:p>
            <a:r>
              <a:rPr lang="en-US" sz="1300" i="1" dirty="0">
                <a:solidFill>
                  <a:srgbClr val="008A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functionalities, we are required to develop the whole GUI of this application, and then</a:t>
            </a:r>
            <a:endParaRPr lang="en-US" sz="1300" dirty="0"/>
          </a:p>
          <a:p>
            <a:r>
              <a:rPr lang="en-US" sz="1300" i="1" dirty="0">
                <a:solidFill>
                  <a:srgbClr val="008A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 the Sign up, Sign In, and Bill Payment modules."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697480"/>
            <a:ext cx="2743200" cy="210312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697480"/>
            <a:ext cx="2743200" cy="54864"/>
          </a:xfrm>
          <a:prstGeom prst="rect">
            <a:avLst/>
          </a:prstGeom>
          <a:solidFill>
            <a:srgbClr val="00B943"/>
          </a:solidFill>
        </p:spPr>
      </p:sp>
      <p:sp>
        <p:nvSpPr>
          <p:cNvPr id="9" name="Text 7"/>
          <p:cNvSpPr/>
          <p:nvPr/>
        </p:nvSpPr>
        <p:spPr>
          <a:xfrm>
            <a:off x="365760" y="2834640"/>
            <a:ext cx="2743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2600" dirty="0">
                <a:solidFill>
                  <a:srgbClr val="000000"/>
                </a:solidFill>
              </a:rPr>
              <a:t>🎨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3401568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GUI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" y="3794760"/>
            <a:ext cx="25603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Replicate the complete Easypaisa interface in JavaFX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2697480"/>
            <a:ext cx="2743200" cy="210312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2697480"/>
            <a:ext cx="2743200" cy="54864"/>
          </a:xfrm>
          <a:prstGeom prst="rect">
            <a:avLst/>
          </a:prstGeom>
          <a:solidFill>
            <a:srgbClr val="00B943"/>
          </a:solidFill>
        </p:spPr>
      </p:sp>
      <p:sp>
        <p:nvSpPr>
          <p:cNvPr id="14" name="Text 12"/>
          <p:cNvSpPr/>
          <p:nvPr/>
        </p:nvSpPr>
        <p:spPr>
          <a:xfrm>
            <a:off x="3291840" y="2834640"/>
            <a:ext cx="2743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3291840" y="3401568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Sign Up &amp; Sign In</a:t>
            </a:r>
          </a:p>
        </p:txBody>
      </p:sp>
      <p:sp>
        <p:nvSpPr>
          <p:cNvPr id="16" name="Text 14"/>
          <p:cNvSpPr/>
          <p:nvPr/>
        </p:nvSpPr>
        <p:spPr>
          <a:xfrm>
            <a:off x="3383280" y="3794760"/>
            <a:ext cx="25603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registration &amp; PIN-based authentication</a:t>
            </a:r>
          </a:p>
        </p:txBody>
      </p:sp>
      <p:sp>
        <p:nvSpPr>
          <p:cNvPr id="17" name="Shape 15"/>
          <p:cNvSpPr/>
          <p:nvPr/>
        </p:nvSpPr>
        <p:spPr>
          <a:xfrm>
            <a:off x="6217920" y="2697480"/>
            <a:ext cx="2743200" cy="2103120"/>
          </a:xfrm>
          <a:prstGeom prst="rect">
            <a:avLst/>
          </a:prstGeom>
          <a:solidFill>
            <a:srgbClr val="FFFFFF"/>
          </a:solidFill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17920" y="2697480"/>
            <a:ext cx="2743200" cy="54864"/>
          </a:xfrm>
          <a:prstGeom prst="rect">
            <a:avLst/>
          </a:prstGeom>
          <a:solidFill>
            <a:srgbClr val="00B943"/>
          </a:solidFill>
        </p:spPr>
      </p:sp>
      <p:sp>
        <p:nvSpPr>
          <p:cNvPr id="19" name="Text 17"/>
          <p:cNvSpPr/>
          <p:nvPr/>
        </p:nvSpPr>
        <p:spPr>
          <a:xfrm>
            <a:off x="6217920" y="2834640"/>
            <a:ext cx="2743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2600" dirty="0">
                <a:solidFill>
                  <a:srgbClr val="000000"/>
                </a:solidFill>
              </a:rPr>
              <a:t>💳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217920" y="3401568"/>
            <a:ext cx="2743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Bill Payment</a:t>
            </a:r>
          </a:p>
        </p:txBody>
      </p:sp>
      <p:sp>
        <p:nvSpPr>
          <p:cNvPr id="21" name="Text 19"/>
          <p:cNvSpPr/>
          <p:nvPr/>
        </p:nvSpPr>
        <p:spPr>
          <a:xfrm>
            <a:off x="6309360" y="3794760"/>
            <a:ext cx="25603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Electric, Gas &amp; Water bill payment module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B943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743200" cy="16459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88720"/>
            <a:ext cx="64008" cy="1645920"/>
          </a:xfrm>
          <a:prstGeom prst="rect">
            <a:avLst/>
          </a:prstGeom>
          <a:solidFill>
            <a:srgbClr val="00B943"/>
          </a:solidFill>
        </p:spPr>
      </p:sp>
      <p:sp>
        <p:nvSpPr>
          <p:cNvPr id="6" name="Text 4"/>
          <p:cNvSpPr/>
          <p:nvPr/>
        </p:nvSpPr>
        <p:spPr>
          <a:xfrm>
            <a:off x="457200" y="1325880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901952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Balance Display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2514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account balance on dashboard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743200" cy="16459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188720"/>
            <a:ext cx="64008" cy="1645920"/>
          </a:xfrm>
          <a:prstGeom prst="rect">
            <a:avLst/>
          </a:prstGeom>
          <a:solidFill>
            <a:srgbClr val="00B943"/>
          </a:solidFill>
        </p:spPr>
      </p:sp>
      <p:sp>
        <p:nvSpPr>
          <p:cNvPr id="11" name="Text 9"/>
          <p:cNvSpPr/>
          <p:nvPr/>
        </p:nvSpPr>
        <p:spPr>
          <a:xfrm>
            <a:off x="3337560" y="1325880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37560" y="1901952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Send Money</a:t>
            </a:r>
          </a:p>
        </p:txBody>
      </p:sp>
      <p:sp>
        <p:nvSpPr>
          <p:cNvPr id="13" name="Text 11"/>
          <p:cNvSpPr/>
          <p:nvPr/>
        </p:nvSpPr>
        <p:spPr>
          <a:xfrm>
            <a:off x="3337560" y="2240280"/>
            <a:ext cx="2514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Transfer funds to registered users</a:t>
            </a:r>
          </a:p>
        </p:txBody>
      </p:sp>
      <p:sp>
        <p:nvSpPr>
          <p:cNvPr id="14" name="Shape 12"/>
          <p:cNvSpPr/>
          <p:nvPr/>
        </p:nvSpPr>
        <p:spPr>
          <a:xfrm>
            <a:off x="6080760" y="1188720"/>
            <a:ext cx="2743200" cy="16459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80760" y="1188720"/>
            <a:ext cx="64008" cy="1645920"/>
          </a:xfrm>
          <a:prstGeom prst="rect">
            <a:avLst/>
          </a:prstGeom>
          <a:solidFill>
            <a:srgbClr val="00B943"/>
          </a:solidFill>
        </p:spPr>
      </p:sp>
      <p:sp>
        <p:nvSpPr>
          <p:cNvPr id="16" name="Text 14"/>
          <p:cNvSpPr/>
          <p:nvPr/>
        </p:nvSpPr>
        <p:spPr>
          <a:xfrm>
            <a:off x="6217920" y="1325880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17920" y="1901952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Bill Payment</a:t>
            </a:r>
          </a:p>
        </p:txBody>
      </p:sp>
      <p:sp>
        <p:nvSpPr>
          <p:cNvPr id="18" name="Text 16"/>
          <p:cNvSpPr/>
          <p:nvPr/>
        </p:nvSpPr>
        <p:spPr>
          <a:xfrm>
            <a:off x="6217920" y="2240280"/>
            <a:ext cx="2514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 Electric, Gas &amp; Water bills</a:t>
            </a:r>
          </a:p>
        </p:txBody>
      </p:sp>
      <p:sp>
        <p:nvSpPr>
          <p:cNvPr id="19" name="Shape 17"/>
          <p:cNvSpPr/>
          <p:nvPr/>
        </p:nvSpPr>
        <p:spPr>
          <a:xfrm>
            <a:off x="320040" y="3063240"/>
            <a:ext cx="2743200" cy="16459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063240"/>
            <a:ext cx="64008" cy="1645920"/>
          </a:xfrm>
          <a:prstGeom prst="rect">
            <a:avLst/>
          </a:prstGeom>
          <a:solidFill>
            <a:srgbClr val="00B943"/>
          </a:solidFill>
        </p:spPr>
      </p:sp>
      <p:sp>
        <p:nvSpPr>
          <p:cNvPr id="21" name="Text 19"/>
          <p:cNvSpPr/>
          <p:nvPr/>
        </p:nvSpPr>
        <p:spPr>
          <a:xfrm>
            <a:off x="457200" y="3200400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200" dirty="0">
                <a:solidFill>
                  <a:srgbClr val="000000"/>
                </a:solidFill>
              </a:rPr>
              <a:t>➕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57200" y="3776472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Money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114800"/>
            <a:ext cx="2514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Deposit funds into account</a:t>
            </a:r>
          </a:p>
        </p:txBody>
      </p:sp>
      <p:sp>
        <p:nvSpPr>
          <p:cNvPr id="24" name="Shape 22"/>
          <p:cNvSpPr/>
          <p:nvPr/>
        </p:nvSpPr>
        <p:spPr>
          <a:xfrm>
            <a:off x="3200400" y="3063240"/>
            <a:ext cx="2743200" cy="16459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3063240"/>
            <a:ext cx="64008" cy="1645920"/>
          </a:xfrm>
          <a:prstGeom prst="rect">
            <a:avLst/>
          </a:prstGeom>
          <a:solidFill>
            <a:srgbClr val="00B943"/>
          </a:solidFill>
        </p:spPr>
      </p:sp>
      <p:sp>
        <p:nvSpPr>
          <p:cNvPr id="26" name="Text 24"/>
          <p:cNvSpPr/>
          <p:nvPr/>
        </p:nvSpPr>
        <p:spPr>
          <a:xfrm>
            <a:off x="3337560" y="3200400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200" dirty="0">
                <a:solidFill>
                  <a:srgbClr val="000000"/>
                </a:solidFill>
              </a:rPr>
              <a:t>🕒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337560" y="3776472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Transaction History</a:t>
            </a:r>
          </a:p>
        </p:txBody>
      </p:sp>
      <p:sp>
        <p:nvSpPr>
          <p:cNvPr id="28" name="Text 26"/>
          <p:cNvSpPr/>
          <p:nvPr/>
        </p:nvSpPr>
        <p:spPr>
          <a:xfrm>
            <a:off x="3337560" y="4114800"/>
            <a:ext cx="2514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View complete transaction log</a:t>
            </a:r>
          </a:p>
        </p:txBody>
      </p:sp>
      <p:sp>
        <p:nvSpPr>
          <p:cNvPr id="29" name="Shape 27"/>
          <p:cNvSpPr/>
          <p:nvPr/>
        </p:nvSpPr>
        <p:spPr>
          <a:xfrm>
            <a:off x="6080760" y="3063240"/>
            <a:ext cx="2743200" cy="16459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0760" y="3063240"/>
            <a:ext cx="64008" cy="1645920"/>
          </a:xfrm>
          <a:prstGeom prst="rect">
            <a:avLst/>
          </a:prstGeom>
          <a:solidFill>
            <a:srgbClr val="00B943"/>
          </a:solidFill>
        </p:spPr>
      </p:sp>
      <p:sp>
        <p:nvSpPr>
          <p:cNvPr id="31" name="Text 29"/>
          <p:cNvSpPr/>
          <p:nvPr/>
        </p:nvSpPr>
        <p:spPr>
          <a:xfrm>
            <a:off x="6217920" y="3200400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217920" y="3776472"/>
            <a:ext cx="2514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Persistence</a:t>
            </a:r>
          </a:p>
        </p:txBody>
      </p:sp>
      <p:sp>
        <p:nvSpPr>
          <p:cNvPr id="33" name="Text 31"/>
          <p:cNvSpPr/>
          <p:nvPr/>
        </p:nvSpPr>
        <p:spPr>
          <a:xfrm>
            <a:off x="6217920" y="4114800"/>
            <a:ext cx="2514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Saves data to file between sessions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943"/>
          </a:solidFill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Application 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29000" y="1097280"/>
            <a:ext cx="2286000" cy="777240"/>
          </a:xfrm>
          <a:prstGeom prst="roundRect">
            <a:avLst>
              <a:gd name="adj" fmla="val 11765"/>
            </a:avLst>
          </a:prstGeom>
          <a:solidFill>
            <a:srgbClr val="00B943"/>
          </a:solidFill>
        </p:spPr>
      </p:sp>
      <p:sp>
        <p:nvSpPr>
          <p:cNvPr id="6" name="Text 4"/>
          <p:cNvSpPr/>
          <p:nvPr/>
        </p:nvSpPr>
        <p:spPr>
          <a:xfrm>
            <a:off x="3429000" y="10972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chemeClr val="bg1"/>
                </a:solidFill>
              </a:rPr>
              <a:t>Login Screen</a:t>
            </a:r>
          </a:p>
        </p:txBody>
      </p:sp>
      <p:sp>
        <p:nvSpPr>
          <p:cNvPr id="7" name="Text 5"/>
          <p:cNvSpPr/>
          <p:nvPr/>
        </p:nvSpPr>
        <p:spPr>
          <a:xfrm>
            <a:off x="3429000" y="1536192"/>
            <a:ext cx="228600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chemeClr val="bg1"/>
                </a:solidFill>
              </a:rPr>
              <a:t>Phone + PIN</a:t>
            </a:r>
          </a:p>
        </p:txBody>
      </p:sp>
      <p:sp>
        <p:nvSpPr>
          <p:cNvPr id="8" name="Shape 6"/>
          <p:cNvSpPr/>
          <p:nvPr/>
        </p:nvSpPr>
        <p:spPr>
          <a:xfrm>
            <a:off x="2011680" y="1481328"/>
            <a:ext cx="1417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097280"/>
            <a:ext cx="2286000" cy="777240"/>
          </a:xfrm>
          <a:prstGeom prst="roundRect">
            <a:avLst>
              <a:gd name="adj" fmla="val 11765"/>
            </a:avLst>
          </a:prstGeom>
          <a:solidFill>
            <a:srgbClr val="E8F9EF"/>
          </a:solidFill>
        </p:spPr>
      </p:sp>
      <p:sp>
        <p:nvSpPr>
          <p:cNvPr id="10" name="Shape 8"/>
          <p:cNvSpPr/>
          <p:nvPr/>
        </p:nvSpPr>
        <p:spPr>
          <a:xfrm>
            <a:off x="731520" y="1097280"/>
            <a:ext cx="2286000" cy="54864"/>
          </a:xfrm>
          <a:prstGeom prst="rect">
            <a:avLst/>
          </a:prstGeom>
          <a:solidFill>
            <a:srgbClr val="00B943"/>
          </a:solidFill>
        </p:spPr>
      </p:sp>
      <p:sp>
        <p:nvSpPr>
          <p:cNvPr id="11" name="Text 9"/>
          <p:cNvSpPr/>
          <p:nvPr/>
        </p:nvSpPr>
        <p:spPr>
          <a:xfrm>
            <a:off x="731520" y="1161288"/>
            <a:ext cx="2286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1A1A2E"/>
                </a:solidFill>
              </a:rPr>
              <a:t>Register Screen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1572768"/>
            <a:ext cx="228600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64748B"/>
                </a:solidFill>
              </a:rPr>
              <a:t>Name, Phone, 5-digit PIN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0" y="1874520"/>
            <a:ext cx="0" cy="502920"/>
          </a:xfrm>
          <a:prstGeom prst="line">
            <a:avLst/>
          </a:prstGeom>
          <a:noFill/>
          <a:ln w="25400">
            <a:solidFill>
              <a:srgbClr val="00B94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2377440"/>
            <a:ext cx="2743200" cy="777240"/>
          </a:xfrm>
          <a:prstGeom prst="roundRect">
            <a:avLst>
              <a:gd name="adj" fmla="val 11765"/>
            </a:avLst>
          </a:prstGeom>
          <a:solidFill>
            <a:srgbClr val="1A1A2E"/>
          </a:solidFill>
        </p:spPr>
      </p:sp>
      <p:sp>
        <p:nvSpPr>
          <p:cNvPr id="15" name="Text 13"/>
          <p:cNvSpPr/>
          <p:nvPr/>
        </p:nvSpPr>
        <p:spPr>
          <a:xfrm>
            <a:off x="3200400" y="2377440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Dashboard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00400" y="2816352"/>
            <a:ext cx="2743200" cy="3383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C8F0D8"/>
                </a:solidFill>
              </a:rPr>
              <a:t>Balance + 4 Feature Buttons</a:t>
            </a:r>
          </a:p>
        </p:txBody>
      </p:sp>
      <p:sp>
        <p:nvSpPr>
          <p:cNvPr id="17" name="Shape 15"/>
          <p:cNvSpPr/>
          <p:nvPr/>
        </p:nvSpPr>
        <p:spPr>
          <a:xfrm>
            <a:off x="1280160" y="3154680"/>
            <a:ext cx="0" cy="50292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657600"/>
            <a:ext cx="1901943" cy="960120"/>
          </a:xfrm>
          <a:prstGeom prst="roundRect">
            <a:avLst>
              <a:gd name="adj" fmla="val 7619"/>
            </a:avLst>
          </a:prstGeom>
          <a:solidFill>
            <a:srgbClr val="E8F9EF"/>
          </a:solidFill>
        </p:spPr>
      </p:sp>
      <p:sp>
        <p:nvSpPr>
          <p:cNvPr id="19" name="Shape 17"/>
          <p:cNvSpPr/>
          <p:nvPr/>
        </p:nvSpPr>
        <p:spPr>
          <a:xfrm>
            <a:off x="274320" y="3657600"/>
            <a:ext cx="1901941" cy="34289"/>
          </a:xfrm>
          <a:prstGeom prst="rect">
            <a:avLst/>
          </a:prstGeom>
          <a:solidFill>
            <a:srgbClr val="00B943"/>
          </a:solidFill>
        </p:spPr>
      </p:sp>
      <p:sp>
        <p:nvSpPr>
          <p:cNvPr id="20" name="Text 18"/>
          <p:cNvSpPr/>
          <p:nvPr/>
        </p:nvSpPr>
        <p:spPr>
          <a:xfrm>
            <a:off x="274320" y="3730752"/>
            <a:ext cx="1901943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1A1A2E"/>
                </a:solidFill>
              </a:rPr>
              <a:t>Send Money</a:t>
            </a:r>
          </a:p>
        </p:txBody>
      </p:sp>
      <p:sp>
        <p:nvSpPr>
          <p:cNvPr id="21" name="Text 19"/>
          <p:cNvSpPr/>
          <p:nvPr/>
        </p:nvSpPr>
        <p:spPr>
          <a:xfrm>
            <a:off x="274320" y="4178808"/>
            <a:ext cx="201168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64748B"/>
                </a:solidFill>
              </a:rPr>
              <a:t>To registered user</a:t>
            </a:r>
          </a:p>
        </p:txBody>
      </p:sp>
      <p:sp>
        <p:nvSpPr>
          <p:cNvPr id="22" name="Shape 20"/>
          <p:cNvSpPr/>
          <p:nvPr/>
        </p:nvSpPr>
        <p:spPr>
          <a:xfrm>
            <a:off x="3703320" y="3154680"/>
            <a:ext cx="0" cy="50292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50592" y="3657600"/>
            <a:ext cx="1965351" cy="960120"/>
          </a:xfrm>
          <a:prstGeom prst="roundRect">
            <a:avLst>
              <a:gd name="adj" fmla="val 7619"/>
            </a:avLst>
          </a:prstGeom>
          <a:solidFill>
            <a:srgbClr val="E8F9EF"/>
          </a:solidFill>
        </p:spPr>
      </p:sp>
      <p:sp>
        <p:nvSpPr>
          <p:cNvPr id="24" name="Shape 22"/>
          <p:cNvSpPr/>
          <p:nvPr/>
        </p:nvSpPr>
        <p:spPr>
          <a:xfrm>
            <a:off x="2450592" y="3666744"/>
            <a:ext cx="1965345" cy="34289"/>
          </a:xfrm>
          <a:prstGeom prst="rect">
            <a:avLst/>
          </a:prstGeom>
          <a:solidFill>
            <a:srgbClr val="00B943"/>
          </a:solidFill>
        </p:spPr>
      </p:sp>
      <p:sp>
        <p:nvSpPr>
          <p:cNvPr id="25" name="Text 23"/>
          <p:cNvSpPr/>
          <p:nvPr/>
        </p:nvSpPr>
        <p:spPr>
          <a:xfrm>
            <a:off x="2697480" y="3730752"/>
            <a:ext cx="1240091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1A1A2E"/>
                </a:solidFill>
              </a:rPr>
              <a:t>Bill Payment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479675" y="4178935"/>
            <a:ext cx="1721485" cy="438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64748B"/>
                </a:solidFill>
              </a:rPr>
              <a:t>Electric/Gas/Water</a:t>
            </a:r>
          </a:p>
        </p:txBody>
      </p:sp>
      <p:sp>
        <p:nvSpPr>
          <p:cNvPr id="28" name="Shape 26"/>
          <p:cNvSpPr/>
          <p:nvPr/>
        </p:nvSpPr>
        <p:spPr>
          <a:xfrm>
            <a:off x="4727453" y="365760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E8F9EF"/>
          </a:solidFill>
        </p:spPr>
      </p:sp>
      <p:sp>
        <p:nvSpPr>
          <p:cNvPr id="29" name="Shape 27"/>
          <p:cNvSpPr/>
          <p:nvPr/>
        </p:nvSpPr>
        <p:spPr>
          <a:xfrm>
            <a:off x="4727449" y="3657600"/>
            <a:ext cx="2011679" cy="34289"/>
          </a:xfrm>
          <a:prstGeom prst="rect">
            <a:avLst/>
          </a:prstGeom>
          <a:solidFill>
            <a:srgbClr val="00B943"/>
          </a:solidFill>
        </p:spPr>
      </p:sp>
      <p:sp>
        <p:nvSpPr>
          <p:cNvPr id="30" name="Text 28"/>
          <p:cNvSpPr/>
          <p:nvPr/>
        </p:nvSpPr>
        <p:spPr>
          <a:xfrm>
            <a:off x="4812030" y="3730625"/>
            <a:ext cx="1933575" cy="438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1A1A2E"/>
                </a:solidFill>
              </a:rPr>
              <a:t>Add Money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727575" y="4178935"/>
            <a:ext cx="2134235" cy="438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64748B"/>
                </a:solidFill>
              </a:rPr>
              <a:t>Deposit funds</a:t>
            </a:r>
          </a:p>
        </p:txBody>
      </p:sp>
      <p:sp>
        <p:nvSpPr>
          <p:cNvPr id="33" name="Shape 31"/>
          <p:cNvSpPr/>
          <p:nvPr/>
        </p:nvSpPr>
        <p:spPr>
          <a:xfrm>
            <a:off x="7050642" y="3657600"/>
            <a:ext cx="1926400" cy="960120"/>
          </a:xfrm>
          <a:prstGeom prst="roundRect">
            <a:avLst>
              <a:gd name="adj" fmla="val 7619"/>
            </a:avLst>
          </a:prstGeom>
          <a:solidFill>
            <a:srgbClr val="E8F9EF"/>
          </a:solidFill>
        </p:spPr>
      </p:sp>
      <p:sp>
        <p:nvSpPr>
          <p:cNvPr id="34" name="Shape 32"/>
          <p:cNvSpPr/>
          <p:nvPr/>
        </p:nvSpPr>
        <p:spPr>
          <a:xfrm>
            <a:off x="7050632" y="3649021"/>
            <a:ext cx="1926398" cy="42869"/>
          </a:xfrm>
          <a:prstGeom prst="rect">
            <a:avLst/>
          </a:prstGeom>
          <a:solidFill>
            <a:srgbClr val="00B943"/>
          </a:solidFill>
        </p:spPr>
      </p:sp>
      <p:sp>
        <p:nvSpPr>
          <p:cNvPr id="35" name="Text 33"/>
          <p:cNvSpPr/>
          <p:nvPr/>
        </p:nvSpPr>
        <p:spPr>
          <a:xfrm>
            <a:off x="6471920" y="3730625"/>
            <a:ext cx="3083560" cy="438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1A1A2E"/>
                </a:solidFill>
              </a:rPr>
              <a:t>History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475095" y="4178935"/>
            <a:ext cx="3080385" cy="4387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200" dirty="0">
                <a:solidFill>
                  <a:srgbClr val="64748B"/>
                </a:solidFill>
              </a:rPr>
              <a:t>View logs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280160" y="3154680"/>
            <a:ext cx="0" cy="502920"/>
          </a:xfrm>
          <a:prstGeom prst="line">
            <a:avLst/>
          </a:prstGeom>
          <a:noFill/>
          <a:ln w="15240">
            <a:solidFill>
              <a:srgbClr val="00B94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03320" y="3154680"/>
            <a:ext cx="0" cy="502920"/>
          </a:xfrm>
          <a:prstGeom prst="line">
            <a:avLst/>
          </a:prstGeom>
          <a:noFill/>
          <a:ln w="15240">
            <a:solidFill>
              <a:srgbClr val="00B94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H="1">
            <a:off x="5413859" y="3154679"/>
            <a:ext cx="26823" cy="537209"/>
          </a:xfrm>
          <a:prstGeom prst="line">
            <a:avLst/>
          </a:prstGeom>
          <a:noFill/>
          <a:ln w="15240">
            <a:solidFill>
              <a:srgbClr val="00B943"/>
            </a:solidFill>
            <a:prstDash val="solid"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7763510" y="3154680"/>
            <a:ext cx="0" cy="502920"/>
          </a:xfrm>
          <a:prstGeom prst="line">
            <a:avLst/>
          </a:prstGeom>
          <a:noFill/>
          <a:ln w="15240">
            <a:solidFill>
              <a:srgbClr val="00B943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B943"/>
          </a:solidFill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1: Sign Up / Registration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3200400" cy="3657600"/>
          </a:xfrm>
          <a:prstGeom prst="rect">
            <a:avLst/>
          </a:prstGeom>
          <a:solidFill>
            <a:srgbClr val="F5F5F5"/>
          </a:solidFill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43000"/>
            <a:ext cx="3200400" cy="914400"/>
          </a:xfrm>
          <a:prstGeom prst="rect">
            <a:avLst/>
          </a:prstGeom>
          <a:solidFill>
            <a:srgbClr val="00B943"/>
          </a:solidFill>
        </p:spPr>
      </p:sp>
      <p:sp>
        <p:nvSpPr>
          <p:cNvPr id="6" name="Text 4"/>
          <p:cNvSpPr/>
          <p:nvPr/>
        </p:nvSpPr>
        <p:spPr>
          <a:xfrm>
            <a:off x="457200" y="1417320"/>
            <a:ext cx="30175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Create Account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2834640" cy="438912"/>
          </a:xfrm>
          <a:prstGeom prst="roundRect">
            <a:avLst>
              <a:gd name="adj" fmla="val 16667"/>
            </a:avLst>
          </a:prstGeom>
          <a:solidFill>
            <a:srgbClr val="EEEEEE"/>
          </a:solidFill>
        </p:spPr>
      </p:sp>
      <p:sp>
        <p:nvSpPr>
          <p:cNvPr id="8" name="Text 6"/>
          <p:cNvSpPr/>
          <p:nvPr/>
        </p:nvSpPr>
        <p:spPr>
          <a:xfrm>
            <a:off x="685800" y="2286000"/>
            <a:ext cx="26517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100" dirty="0">
                <a:solidFill>
                  <a:srgbClr val="999999"/>
                </a:solidFill>
              </a:rPr>
              <a:t>Full Name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2834640" cy="438912"/>
          </a:xfrm>
          <a:prstGeom prst="roundRect">
            <a:avLst>
              <a:gd name="adj" fmla="val 16667"/>
            </a:avLst>
          </a:prstGeom>
          <a:solidFill>
            <a:srgbClr val="EEEEEE"/>
          </a:solidFill>
        </p:spPr>
      </p:sp>
      <p:sp>
        <p:nvSpPr>
          <p:cNvPr id="10" name="Text 8"/>
          <p:cNvSpPr/>
          <p:nvPr/>
        </p:nvSpPr>
        <p:spPr>
          <a:xfrm>
            <a:off x="685800" y="2926080"/>
            <a:ext cx="26517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100" dirty="0">
                <a:solidFill>
                  <a:srgbClr val="999999"/>
                </a:solidFill>
              </a:rPr>
              <a:t>Mobile Number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566160"/>
            <a:ext cx="2834640" cy="438912"/>
          </a:xfrm>
          <a:prstGeom prst="roundRect">
            <a:avLst>
              <a:gd name="adj" fmla="val 16667"/>
            </a:avLst>
          </a:prstGeom>
          <a:solidFill>
            <a:srgbClr val="EEEEEE"/>
          </a:solidFill>
        </p:spPr>
      </p:sp>
      <p:sp>
        <p:nvSpPr>
          <p:cNvPr id="12" name="Text 10"/>
          <p:cNvSpPr/>
          <p:nvPr/>
        </p:nvSpPr>
        <p:spPr>
          <a:xfrm>
            <a:off x="685800" y="3566160"/>
            <a:ext cx="26517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100" dirty="0">
                <a:solidFill>
                  <a:srgbClr val="999999"/>
                </a:solidFill>
              </a:rPr>
              <a:t>5-Digit PIN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2834640" cy="457200"/>
          </a:xfrm>
          <a:prstGeom prst="roundRect">
            <a:avLst>
              <a:gd name="adj" fmla="val 20000"/>
            </a:avLst>
          </a:prstGeom>
          <a:solidFill>
            <a:srgbClr val="00B943"/>
          </a:solidFill>
        </p:spPr>
      </p:sp>
      <p:sp>
        <p:nvSpPr>
          <p:cNvPr id="14" name="Text 12"/>
          <p:cNvSpPr/>
          <p:nvPr/>
        </p:nvSpPr>
        <p:spPr>
          <a:xfrm>
            <a:off x="548640" y="4297680"/>
            <a:ext cx="28346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Register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40480" y="1143000"/>
            <a:ext cx="5029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 Rules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840480" y="1783080"/>
            <a:ext cx="5029200" cy="713232"/>
          </a:xfrm>
          <a:prstGeom prst="rect">
            <a:avLst/>
          </a:prstGeom>
          <a:solidFill>
            <a:srgbClr val="E8F9EF"/>
          </a:solidFill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0" y="1783080"/>
            <a:ext cx="54864" cy="713232"/>
          </a:xfrm>
          <a:prstGeom prst="rect">
            <a:avLst/>
          </a:prstGeom>
          <a:solidFill>
            <a:srgbClr val="00B943"/>
          </a:solidFill>
        </p:spPr>
      </p:sp>
      <p:sp>
        <p:nvSpPr>
          <p:cNvPr id="18" name="Text 16"/>
          <p:cNvSpPr/>
          <p:nvPr/>
        </p:nvSpPr>
        <p:spPr>
          <a:xfrm>
            <a:off x="3977640" y="1828800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008A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👤  Full Name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977640" y="2130552"/>
            <a:ext cx="47548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Must contain letters only (a-z, A-Z, spaces). Cannot be empty.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40480" y="2587752"/>
            <a:ext cx="5029200" cy="713232"/>
          </a:xfrm>
          <a:prstGeom prst="rect">
            <a:avLst/>
          </a:prstGeom>
          <a:solidFill>
            <a:srgbClr val="E8F9EF"/>
          </a:solidFill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840480" y="2587752"/>
            <a:ext cx="54864" cy="713232"/>
          </a:xfrm>
          <a:prstGeom prst="rect">
            <a:avLst/>
          </a:prstGeom>
          <a:solidFill>
            <a:srgbClr val="00B943"/>
          </a:solidFill>
        </p:spPr>
      </p:sp>
      <p:sp>
        <p:nvSpPr>
          <p:cNvPr id="22" name="Text 20"/>
          <p:cNvSpPr/>
          <p:nvPr/>
        </p:nvSpPr>
        <p:spPr>
          <a:xfrm>
            <a:off x="3977640" y="2633472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008A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📱  Mobile Number</a:t>
            </a:r>
          </a:p>
        </p:txBody>
      </p:sp>
      <p:sp>
        <p:nvSpPr>
          <p:cNvPr id="23" name="Text 21"/>
          <p:cNvSpPr/>
          <p:nvPr/>
        </p:nvSpPr>
        <p:spPr>
          <a:xfrm>
            <a:off x="3977640" y="2935224"/>
            <a:ext cx="47548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Digits only. No letters or special characters allowed</a:t>
            </a: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840480" y="3392424"/>
            <a:ext cx="5029200" cy="713232"/>
          </a:xfrm>
          <a:prstGeom prst="rect">
            <a:avLst/>
          </a:prstGeom>
          <a:solidFill>
            <a:srgbClr val="E8F9EF"/>
          </a:solidFill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840480" y="3392424"/>
            <a:ext cx="54864" cy="713232"/>
          </a:xfrm>
          <a:prstGeom prst="rect">
            <a:avLst/>
          </a:prstGeom>
          <a:solidFill>
            <a:srgbClr val="00B943"/>
          </a:solidFill>
        </p:spPr>
      </p:sp>
      <p:sp>
        <p:nvSpPr>
          <p:cNvPr id="26" name="Text 24"/>
          <p:cNvSpPr/>
          <p:nvPr/>
        </p:nvSpPr>
        <p:spPr>
          <a:xfrm>
            <a:off x="3977640" y="3438144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008A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🔒  5-Digit PIN</a:t>
            </a:r>
          </a:p>
        </p:txBody>
      </p:sp>
      <p:sp>
        <p:nvSpPr>
          <p:cNvPr id="27" name="Text 25"/>
          <p:cNvSpPr/>
          <p:nvPr/>
        </p:nvSpPr>
        <p:spPr>
          <a:xfrm>
            <a:off x="3977640" y="3739896"/>
            <a:ext cx="47548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Exactly</a:t>
            </a: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5 digits. Only numbers allowed. No letters.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840480" y="4197096"/>
            <a:ext cx="5029200" cy="713232"/>
          </a:xfrm>
          <a:prstGeom prst="rect">
            <a:avLst/>
          </a:prstGeom>
          <a:solidFill>
            <a:srgbClr val="E8F9EF"/>
          </a:solidFill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840480" y="4197096"/>
            <a:ext cx="54864" cy="713232"/>
          </a:xfrm>
          <a:prstGeom prst="rect">
            <a:avLst/>
          </a:prstGeom>
          <a:solidFill>
            <a:srgbClr val="00B943"/>
          </a:solidFill>
        </p:spPr>
      </p:sp>
      <p:sp>
        <p:nvSpPr>
          <p:cNvPr id="30" name="Text 28"/>
          <p:cNvSpPr/>
          <p:nvPr/>
        </p:nvSpPr>
        <p:spPr>
          <a:xfrm>
            <a:off x="3977640" y="4242816"/>
            <a:ext cx="47548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008A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On Success</a:t>
            </a:r>
          </a:p>
        </p:txBody>
      </p:sp>
      <p:sp>
        <p:nvSpPr>
          <p:cNvPr id="31" name="Text 29"/>
          <p:cNvSpPr/>
          <p:nvPr/>
        </p:nvSpPr>
        <p:spPr>
          <a:xfrm>
            <a:off x="3977640" y="4544568"/>
            <a:ext cx="47548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saved to list, data persisted to file, redirected to Login.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943"/>
          </a:solidFill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30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2: Sign In / Login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229600" cy="0"/>
          </a:xfrm>
          <a:prstGeom prst="line">
            <a:avLst/>
          </a:prstGeom>
          <a:noFill/>
          <a:ln w="19050">
            <a:solidFill>
              <a:srgbClr val="D0E8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3291840" cy="3749040"/>
          </a:xfrm>
          <a:prstGeom prst="rect">
            <a:avLst/>
          </a:prstGeom>
          <a:solidFill>
            <a:srgbClr val="FFFFFF"/>
          </a:solidFill>
          <a:effectLst>
            <a:outerShdw blurRad="1524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3291840" cy="1188720"/>
          </a:xfrm>
          <a:prstGeom prst="ellipse">
            <a:avLst/>
          </a:prstGeom>
          <a:solidFill>
            <a:srgbClr val="00B943"/>
          </a:solidFill>
        </p:spPr>
      </p:sp>
      <p:sp>
        <p:nvSpPr>
          <p:cNvPr id="7" name="Text 5"/>
          <p:cNvSpPr/>
          <p:nvPr/>
        </p:nvSpPr>
        <p:spPr>
          <a:xfrm>
            <a:off x="365760" y="1234440"/>
            <a:ext cx="32918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FFFFFF"/>
                </a:solidFill>
              </a:rPr>
              <a:t>easypaisa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94360" y="2514600"/>
            <a:ext cx="2834640" cy="438912"/>
          </a:xfrm>
          <a:prstGeom prst="roundRect">
            <a:avLst>
              <a:gd name="adj" fmla="val 16667"/>
            </a:avLst>
          </a:prstGeom>
          <a:solidFill>
            <a:srgbClr val="F2F2F2"/>
          </a:solidFill>
        </p:spPr>
      </p:sp>
      <p:sp>
        <p:nvSpPr>
          <p:cNvPr id="9" name="Text 7"/>
          <p:cNvSpPr/>
          <p:nvPr/>
        </p:nvSpPr>
        <p:spPr>
          <a:xfrm>
            <a:off x="731520" y="2514600"/>
            <a:ext cx="26517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100" dirty="0">
                <a:solidFill>
                  <a:srgbClr val="999999"/>
                </a:solidFill>
              </a:rPr>
              <a:t>Mobile Number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3172968"/>
            <a:ext cx="2834640" cy="438912"/>
          </a:xfrm>
          <a:prstGeom prst="roundRect">
            <a:avLst>
              <a:gd name="adj" fmla="val 16667"/>
            </a:avLst>
          </a:prstGeom>
          <a:solidFill>
            <a:srgbClr val="F2F2F2"/>
          </a:solidFill>
        </p:spPr>
      </p:sp>
      <p:sp>
        <p:nvSpPr>
          <p:cNvPr id="11" name="Text 9"/>
          <p:cNvSpPr/>
          <p:nvPr/>
        </p:nvSpPr>
        <p:spPr>
          <a:xfrm>
            <a:off x="731520" y="3172968"/>
            <a:ext cx="26517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100" dirty="0">
                <a:solidFill>
                  <a:srgbClr val="999999"/>
                </a:solidFill>
              </a:rPr>
              <a:t>5-Digit PIN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" y="3886200"/>
            <a:ext cx="2834640" cy="438912"/>
          </a:xfrm>
          <a:prstGeom prst="roundRect">
            <a:avLst>
              <a:gd name="adj" fmla="val 20833"/>
            </a:avLst>
          </a:prstGeom>
          <a:solidFill>
            <a:srgbClr val="00B943"/>
          </a:solidFill>
        </p:spPr>
      </p:sp>
      <p:sp>
        <p:nvSpPr>
          <p:cNvPr id="13" name="Text 11"/>
          <p:cNvSpPr/>
          <p:nvPr/>
        </p:nvSpPr>
        <p:spPr>
          <a:xfrm>
            <a:off x="594360" y="3886200"/>
            <a:ext cx="28346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Login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4434840"/>
            <a:ext cx="28346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100" dirty="0">
                <a:solidFill>
                  <a:srgbClr val="00B943"/>
                </a:solidFill>
              </a:rPr>
              <a:t>Create New Account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31920" y="1097280"/>
            <a:ext cx="5029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7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Authentication Logic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3931920" y="1691640"/>
            <a:ext cx="502920" cy="502920"/>
          </a:xfrm>
          <a:prstGeom prst="ellipse">
            <a:avLst/>
          </a:prstGeom>
          <a:solidFill>
            <a:srgbClr val="00B943"/>
          </a:solidFill>
        </p:spPr>
      </p:sp>
      <p:sp>
        <p:nvSpPr>
          <p:cNvPr id="17" name="Text 15"/>
          <p:cNvSpPr/>
          <p:nvPr/>
        </p:nvSpPr>
        <p:spPr>
          <a:xfrm>
            <a:off x="3931920" y="169164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1691640"/>
            <a:ext cx="4297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 Validation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0" y="1947672"/>
            <a:ext cx="4297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Checks if phone and PIN fields are not empty.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931920" y="2350008"/>
            <a:ext cx="502920" cy="502920"/>
          </a:xfrm>
          <a:prstGeom prst="ellipse">
            <a:avLst/>
          </a:prstGeom>
          <a:solidFill>
            <a:srgbClr val="00B943"/>
          </a:solidFill>
        </p:spPr>
      </p:sp>
      <p:sp>
        <p:nvSpPr>
          <p:cNvPr id="21" name="Text 19"/>
          <p:cNvSpPr/>
          <p:nvPr/>
        </p:nvSpPr>
        <p:spPr>
          <a:xfrm>
            <a:off x="3931920" y="2350008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2350008"/>
            <a:ext cx="4297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Format Check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0" y="2606040"/>
            <a:ext cx="4297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PIN must contain only numeric digits.</a:t>
            </a:r>
          </a:p>
        </p:txBody>
      </p:sp>
      <p:sp>
        <p:nvSpPr>
          <p:cNvPr id="24" name="Shape 22"/>
          <p:cNvSpPr/>
          <p:nvPr/>
        </p:nvSpPr>
        <p:spPr>
          <a:xfrm>
            <a:off x="3931920" y="3008376"/>
            <a:ext cx="502920" cy="502920"/>
          </a:xfrm>
          <a:prstGeom prst="ellipse">
            <a:avLst/>
          </a:prstGeom>
          <a:solidFill>
            <a:srgbClr val="00B943"/>
          </a:solidFill>
        </p:spPr>
      </p:sp>
      <p:sp>
        <p:nvSpPr>
          <p:cNvPr id="25" name="Text 23"/>
          <p:cNvSpPr/>
          <p:nvPr/>
        </p:nvSpPr>
        <p:spPr>
          <a:xfrm>
            <a:off x="3931920" y="300837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0" y="3008376"/>
            <a:ext cx="4297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Lookup</a:t>
            </a:r>
          </a:p>
        </p:txBody>
      </p:sp>
      <p:sp>
        <p:nvSpPr>
          <p:cNvPr id="27" name="Text 25"/>
          <p:cNvSpPr/>
          <p:nvPr/>
        </p:nvSpPr>
        <p:spPr>
          <a:xfrm>
            <a:off x="4572000" y="3264408"/>
            <a:ext cx="4297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Searches registered users list using Java Streams (.anyMatch()).</a:t>
            </a:r>
          </a:p>
        </p:txBody>
      </p:sp>
      <p:sp>
        <p:nvSpPr>
          <p:cNvPr id="28" name="Shape 26"/>
          <p:cNvSpPr/>
          <p:nvPr/>
        </p:nvSpPr>
        <p:spPr>
          <a:xfrm>
            <a:off x="3931920" y="3666744"/>
            <a:ext cx="502920" cy="502920"/>
          </a:xfrm>
          <a:prstGeom prst="ellipse">
            <a:avLst/>
          </a:prstGeom>
          <a:solidFill>
            <a:srgbClr val="00B943"/>
          </a:solidFill>
        </p:spPr>
      </p:sp>
      <p:sp>
        <p:nvSpPr>
          <p:cNvPr id="29" name="Text 27"/>
          <p:cNvSpPr/>
          <p:nvPr/>
        </p:nvSpPr>
        <p:spPr>
          <a:xfrm>
            <a:off x="3931920" y="36667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0" y="3666744"/>
            <a:ext cx="4297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 Found?</a:t>
            </a:r>
          </a:p>
        </p:txBody>
      </p:sp>
      <p:sp>
        <p:nvSpPr>
          <p:cNvPr id="31" name="Text 29"/>
          <p:cNvSpPr/>
          <p:nvPr/>
        </p:nvSpPr>
        <p:spPr>
          <a:xfrm>
            <a:off x="4572000" y="3922776"/>
            <a:ext cx="4297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Yes → Navigate to Dashboard.</a:t>
            </a:r>
          </a:p>
          <a:p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→ Show error alert.</a:t>
            </a:r>
          </a:p>
        </p:txBody>
      </p:sp>
      <p:sp>
        <p:nvSpPr>
          <p:cNvPr id="32" name="Shape 30"/>
          <p:cNvSpPr/>
          <p:nvPr/>
        </p:nvSpPr>
        <p:spPr>
          <a:xfrm>
            <a:off x="3931920" y="4325112"/>
            <a:ext cx="502920" cy="502920"/>
          </a:xfrm>
          <a:prstGeom prst="ellipse">
            <a:avLst/>
          </a:prstGeom>
          <a:solidFill>
            <a:srgbClr val="00B943"/>
          </a:solidFill>
        </p:spPr>
      </p:sp>
      <p:sp>
        <p:nvSpPr>
          <p:cNvPr id="33" name="Text 31"/>
          <p:cNvSpPr/>
          <p:nvPr/>
        </p:nvSpPr>
        <p:spPr>
          <a:xfrm>
            <a:off x="3931920" y="432511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0" y="4325112"/>
            <a:ext cx="42976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5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 Logout</a:t>
            </a:r>
          </a:p>
        </p:txBody>
      </p:sp>
      <p:sp>
        <p:nvSpPr>
          <p:cNvPr id="35" name="Text 33"/>
          <p:cNvSpPr/>
          <p:nvPr/>
        </p:nvSpPr>
        <p:spPr>
          <a:xfrm>
            <a:off x="4572000" y="4581144"/>
            <a:ext cx="42976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is saved to file, user returned to Login screen.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1A2E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365760" cy="1005840"/>
          </a:xfrm>
          <a:prstGeom prst="rect">
            <a:avLst/>
          </a:prstGeom>
          <a:solidFill>
            <a:srgbClr val="00B943"/>
          </a:solidFill>
        </p:spPr>
      </p:sp>
      <p:sp>
        <p:nvSpPr>
          <p:cNvPr id="4" name="Text 2"/>
          <p:cNvSpPr/>
          <p:nvPr/>
        </p:nvSpPr>
        <p:spPr>
          <a:xfrm>
            <a:off x="548640" y="137160"/>
            <a:ext cx="84124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Module 3: Bill Payment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743200" cy="2194560"/>
          </a:xfrm>
          <a:prstGeom prst="rect">
            <a:avLst/>
          </a:prstGeom>
          <a:solidFill>
            <a:srgbClr val="FFF3CD"/>
          </a:solidFill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43000"/>
            <a:ext cx="2743200" cy="64008"/>
          </a:xfrm>
          <a:prstGeom prst="rect">
            <a:avLst/>
          </a:prstGeom>
          <a:solidFill>
            <a:srgbClr val="FFC107"/>
          </a:solidFill>
        </p:spPr>
      </p:sp>
      <p:sp>
        <p:nvSpPr>
          <p:cNvPr id="7" name="Text 5"/>
          <p:cNvSpPr/>
          <p:nvPr/>
        </p:nvSpPr>
        <p:spPr>
          <a:xfrm>
            <a:off x="320040" y="1234440"/>
            <a:ext cx="27432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0040" y="1993392"/>
            <a:ext cx="2743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Electric Bill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24688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 electricity utility bills by entering reference number and amount.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1143000"/>
            <a:ext cx="2743200" cy="2194560"/>
          </a:xfrm>
          <a:prstGeom prst="rect">
            <a:avLst/>
          </a:prstGeom>
          <a:solidFill>
            <a:srgbClr val="FFE2E2"/>
          </a:solidFill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143000"/>
            <a:ext cx="2743200" cy="64008"/>
          </a:xfrm>
          <a:prstGeom prst="rect">
            <a:avLst/>
          </a:prstGeom>
          <a:solidFill>
            <a:srgbClr val="DC3545"/>
          </a:solidFill>
        </p:spPr>
      </p:sp>
      <p:sp>
        <p:nvSpPr>
          <p:cNvPr id="12" name="Text 10"/>
          <p:cNvSpPr/>
          <p:nvPr/>
        </p:nvSpPr>
        <p:spPr>
          <a:xfrm>
            <a:off x="3246120" y="1234440"/>
            <a:ext cx="27432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3600" dirty="0">
                <a:solidFill>
                  <a:srgbClr val="000000"/>
                </a:solidFill>
              </a:rPr>
              <a:t>🔥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246120" y="1993392"/>
            <a:ext cx="2743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Gas Bill</a:t>
            </a:r>
          </a:p>
        </p:txBody>
      </p:sp>
      <p:sp>
        <p:nvSpPr>
          <p:cNvPr id="14" name="Text 12"/>
          <p:cNvSpPr/>
          <p:nvPr/>
        </p:nvSpPr>
        <p:spPr>
          <a:xfrm>
            <a:off x="3383280" y="2423160"/>
            <a:ext cx="24688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 gas supplier bills quickly with reference and amount fields.</a:t>
            </a:r>
          </a:p>
        </p:txBody>
      </p:sp>
      <p:sp>
        <p:nvSpPr>
          <p:cNvPr id="15" name="Shape 13"/>
          <p:cNvSpPr/>
          <p:nvPr/>
        </p:nvSpPr>
        <p:spPr>
          <a:xfrm>
            <a:off x="6172200" y="1143000"/>
            <a:ext cx="2743200" cy="2194560"/>
          </a:xfrm>
          <a:prstGeom prst="rect">
            <a:avLst/>
          </a:prstGeom>
          <a:solidFill>
            <a:srgbClr val="D0ECF9"/>
          </a:solidFill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1143000"/>
            <a:ext cx="2743200" cy="64008"/>
          </a:xfrm>
          <a:prstGeom prst="rect">
            <a:avLst/>
          </a:prstGeom>
          <a:solidFill>
            <a:srgbClr val="0D9EC4"/>
          </a:solidFill>
        </p:spPr>
      </p:sp>
      <p:sp>
        <p:nvSpPr>
          <p:cNvPr id="17" name="Text 15"/>
          <p:cNvSpPr/>
          <p:nvPr/>
        </p:nvSpPr>
        <p:spPr>
          <a:xfrm>
            <a:off x="6172200" y="1234440"/>
            <a:ext cx="27432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3600" dirty="0">
                <a:solidFill>
                  <a:srgbClr val="000000"/>
                </a:solidFill>
              </a:rPr>
              <a:t>💧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172200" y="1993392"/>
            <a:ext cx="2743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Water Bill</a:t>
            </a:r>
          </a:p>
        </p:txBody>
      </p:sp>
      <p:sp>
        <p:nvSpPr>
          <p:cNvPr id="19" name="Text 17"/>
          <p:cNvSpPr/>
          <p:nvPr/>
        </p:nvSpPr>
        <p:spPr>
          <a:xfrm>
            <a:off x="6309360" y="2423160"/>
            <a:ext cx="24688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 municipal water bills using the same simple form</a:t>
            </a: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520440"/>
            <a:ext cx="8503920" cy="54864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1" name="Text 19"/>
          <p:cNvSpPr/>
          <p:nvPr/>
        </p:nvSpPr>
        <p:spPr>
          <a:xfrm>
            <a:off x="320040" y="3611880"/>
            <a:ext cx="8503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Payment Process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20040" y="4041648"/>
            <a:ext cx="1353312" cy="685800"/>
          </a:xfrm>
          <a:prstGeom prst="roundRect">
            <a:avLst>
              <a:gd name="adj" fmla="val 9333"/>
            </a:avLst>
          </a:prstGeom>
          <a:solidFill>
            <a:srgbClr val="00B943"/>
          </a:solidFill>
        </p:spPr>
      </p:sp>
      <p:sp>
        <p:nvSpPr>
          <p:cNvPr id="23" name="Text 21"/>
          <p:cNvSpPr/>
          <p:nvPr/>
        </p:nvSpPr>
        <p:spPr>
          <a:xfrm>
            <a:off x="320040" y="4041648"/>
            <a:ext cx="135331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 Bill Type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673352" y="4389120"/>
            <a:ext cx="914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64792" y="4041648"/>
            <a:ext cx="1353312" cy="685800"/>
          </a:xfrm>
          <a:prstGeom prst="roundRect">
            <a:avLst>
              <a:gd name="adj" fmla="val 9333"/>
            </a:avLst>
          </a:prstGeom>
          <a:solidFill>
            <a:srgbClr val="008A30"/>
          </a:solidFill>
        </p:spPr>
      </p:sp>
      <p:sp>
        <p:nvSpPr>
          <p:cNvPr id="26" name="Text 24"/>
          <p:cNvSpPr/>
          <p:nvPr/>
        </p:nvSpPr>
        <p:spPr>
          <a:xfrm>
            <a:off x="1764792" y="4041648"/>
            <a:ext cx="135331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Enter Reference No.</a:t>
            </a:r>
          </a:p>
        </p:txBody>
      </p:sp>
      <p:sp>
        <p:nvSpPr>
          <p:cNvPr id="27" name="Shape 25"/>
          <p:cNvSpPr/>
          <p:nvPr/>
        </p:nvSpPr>
        <p:spPr>
          <a:xfrm>
            <a:off x="3118104" y="4389120"/>
            <a:ext cx="914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9544" y="4041648"/>
            <a:ext cx="1353312" cy="685800"/>
          </a:xfrm>
          <a:prstGeom prst="roundRect">
            <a:avLst>
              <a:gd name="adj" fmla="val 9333"/>
            </a:avLst>
          </a:prstGeom>
          <a:solidFill>
            <a:srgbClr val="00B943"/>
          </a:solidFill>
        </p:spPr>
      </p:sp>
      <p:sp>
        <p:nvSpPr>
          <p:cNvPr id="29" name="Text 27"/>
          <p:cNvSpPr/>
          <p:nvPr/>
        </p:nvSpPr>
        <p:spPr>
          <a:xfrm>
            <a:off x="3209544" y="4041648"/>
            <a:ext cx="135331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Enter Amount</a:t>
            </a:r>
          </a:p>
        </p:txBody>
      </p:sp>
      <p:sp>
        <p:nvSpPr>
          <p:cNvPr id="30" name="Shape 28"/>
          <p:cNvSpPr/>
          <p:nvPr/>
        </p:nvSpPr>
        <p:spPr>
          <a:xfrm>
            <a:off x="4562856" y="4389120"/>
            <a:ext cx="914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54296" y="4041648"/>
            <a:ext cx="1353312" cy="685800"/>
          </a:xfrm>
          <a:prstGeom prst="roundRect">
            <a:avLst>
              <a:gd name="adj" fmla="val 9333"/>
            </a:avLst>
          </a:prstGeom>
          <a:solidFill>
            <a:srgbClr val="008A30"/>
          </a:solidFill>
        </p:spPr>
      </p:sp>
      <p:sp>
        <p:nvSpPr>
          <p:cNvPr id="32" name="Text 30"/>
          <p:cNvSpPr/>
          <p:nvPr/>
        </p:nvSpPr>
        <p:spPr>
          <a:xfrm>
            <a:off x="4654296" y="4041648"/>
            <a:ext cx="135331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Validate Balance</a:t>
            </a:r>
          </a:p>
        </p:txBody>
      </p:sp>
      <p:sp>
        <p:nvSpPr>
          <p:cNvPr id="33" name="Shape 31"/>
          <p:cNvSpPr/>
          <p:nvPr/>
        </p:nvSpPr>
        <p:spPr>
          <a:xfrm>
            <a:off x="6007608" y="4389120"/>
            <a:ext cx="914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99048" y="4041648"/>
            <a:ext cx="1353312" cy="685800"/>
          </a:xfrm>
          <a:prstGeom prst="roundRect">
            <a:avLst>
              <a:gd name="adj" fmla="val 9333"/>
            </a:avLst>
          </a:prstGeom>
          <a:solidFill>
            <a:srgbClr val="00B943"/>
          </a:solidFill>
        </p:spPr>
      </p:sp>
      <p:sp>
        <p:nvSpPr>
          <p:cNvPr id="35" name="Text 33"/>
          <p:cNvSpPr/>
          <p:nvPr/>
        </p:nvSpPr>
        <p:spPr>
          <a:xfrm>
            <a:off x="6099048" y="4041648"/>
            <a:ext cx="135331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Deduct &amp; Log</a:t>
            </a:r>
          </a:p>
        </p:txBody>
      </p:sp>
      <p:sp>
        <p:nvSpPr>
          <p:cNvPr id="36" name="Shape 34"/>
          <p:cNvSpPr/>
          <p:nvPr/>
        </p:nvSpPr>
        <p:spPr>
          <a:xfrm>
            <a:off x="7452360" y="4389120"/>
            <a:ext cx="914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43800" y="4041648"/>
            <a:ext cx="1353312" cy="685800"/>
          </a:xfrm>
          <a:prstGeom prst="roundRect">
            <a:avLst>
              <a:gd name="adj" fmla="val 9333"/>
            </a:avLst>
          </a:prstGeom>
          <a:solidFill>
            <a:srgbClr val="008A30"/>
          </a:solidFill>
        </p:spPr>
      </p:sp>
      <p:sp>
        <p:nvSpPr>
          <p:cNvPr id="38" name="Text 36"/>
          <p:cNvSpPr/>
          <p:nvPr/>
        </p:nvSpPr>
        <p:spPr>
          <a:xfrm>
            <a:off x="7543800" y="4041648"/>
            <a:ext cx="1353312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 to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00B943">
              <a:alpha val="12000"/>
            </a:srgbClr>
          </a:solidFill>
        </p:spPr>
      </p:sp>
      <p:sp>
        <p:nvSpPr>
          <p:cNvPr id="3" name="Text 1"/>
          <p:cNvSpPr/>
          <p:nvPr/>
        </p:nvSpPr>
        <p:spPr>
          <a:xfrm>
            <a:off x="457200" y="274320"/>
            <a:ext cx="73152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Technical Implementation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00B94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4206240" cy="1143000"/>
          </a:xfrm>
          <a:prstGeom prst="rect">
            <a:avLst/>
          </a:prstGeom>
          <a:solidFill>
            <a:srgbClr val="FFFFFF">
              <a:alpha val="8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365760" y="1188720"/>
            <a:ext cx="64008" cy="1143000"/>
          </a:xfrm>
          <a:prstGeom prst="rect">
            <a:avLst/>
          </a:prstGeom>
          <a:solidFill>
            <a:srgbClr val="00B943"/>
          </a:solidFill>
        </p:spPr>
      </p:sp>
      <p:sp>
        <p:nvSpPr>
          <p:cNvPr id="7" name="Text 5"/>
          <p:cNvSpPr/>
          <p:nvPr/>
        </p:nvSpPr>
        <p:spPr>
          <a:xfrm>
            <a:off x="530352" y="1280160"/>
            <a:ext cx="3931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9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JavaFX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30352" y="1618488"/>
            <a:ext cx="3931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 framework for desktop UI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" y="1874520"/>
            <a:ext cx="39319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Scene, Stage, VBox, HBox, GridPane, StackPane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188720"/>
            <a:ext cx="4206240" cy="1143000"/>
          </a:xfrm>
          <a:prstGeom prst="rect">
            <a:avLst/>
          </a:prstGeom>
          <a:solidFill>
            <a:srgbClr val="FFFFFF">
              <a:alpha val="8000"/>
            </a:srgbClr>
          </a:solidFill>
        </p:spPr>
      </p:sp>
      <p:sp>
        <p:nvSpPr>
          <p:cNvPr id="11" name="Shape 9"/>
          <p:cNvSpPr/>
          <p:nvPr/>
        </p:nvSpPr>
        <p:spPr>
          <a:xfrm>
            <a:off x="4846320" y="1188720"/>
            <a:ext cx="64008" cy="1143000"/>
          </a:xfrm>
          <a:prstGeom prst="rect">
            <a:avLst/>
          </a:prstGeom>
          <a:solidFill>
            <a:srgbClr val="00B943"/>
          </a:solidFill>
        </p:spPr>
      </p:sp>
      <p:sp>
        <p:nvSpPr>
          <p:cNvPr id="12" name="Text 10"/>
          <p:cNvSpPr/>
          <p:nvPr/>
        </p:nvSpPr>
        <p:spPr>
          <a:xfrm>
            <a:off x="5010912" y="1280160"/>
            <a:ext cx="3931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9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OOP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10912" y="1618488"/>
            <a:ext cx="3931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Object-Oriented Design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10912" y="1874520"/>
            <a:ext cx="39319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algn="l">
              <a:buClrTx/>
              <a:buSzTx/>
              <a:buFontTx/>
              <a:buNone/>
            </a:pPr>
            <a:r>
              <a:rPr lang="en-US" sz="1200" i="1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UserProfile class, encapsulated data, methods</a:t>
            </a:r>
          </a:p>
        </p:txBody>
      </p:sp>
      <p:sp>
        <p:nvSpPr>
          <p:cNvPr id="15" name="Shape 13"/>
          <p:cNvSpPr/>
          <p:nvPr/>
        </p:nvSpPr>
        <p:spPr>
          <a:xfrm>
            <a:off x="365760" y="2402840"/>
            <a:ext cx="4206240" cy="1143000"/>
          </a:xfrm>
          <a:prstGeom prst="rect">
            <a:avLst/>
          </a:prstGeom>
          <a:solidFill>
            <a:srgbClr val="FFFFFF">
              <a:alpha val="8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365760" y="2468880"/>
            <a:ext cx="64008" cy="1143000"/>
          </a:xfrm>
          <a:prstGeom prst="rect">
            <a:avLst/>
          </a:prstGeom>
          <a:solidFill>
            <a:srgbClr val="00B943"/>
          </a:solidFill>
        </p:spPr>
      </p:sp>
      <p:sp>
        <p:nvSpPr>
          <p:cNvPr id="17" name="Text 15"/>
          <p:cNvSpPr/>
          <p:nvPr/>
        </p:nvSpPr>
        <p:spPr>
          <a:xfrm>
            <a:off x="530352" y="2560320"/>
            <a:ext cx="3931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9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 I/O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30352" y="2898648"/>
            <a:ext cx="3931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Persistence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" y="3154680"/>
            <a:ext cx="39319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FileWriter, Scanner – save/load user data and logs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2468880"/>
            <a:ext cx="4206240" cy="1143000"/>
          </a:xfrm>
          <a:prstGeom prst="rect">
            <a:avLst/>
          </a:prstGeom>
          <a:solidFill>
            <a:srgbClr val="FFFFFF">
              <a:alpha val="8000"/>
            </a:srgbClr>
          </a:solidFill>
        </p:spPr>
      </p:sp>
      <p:sp>
        <p:nvSpPr>
          <p:cNvPr id="21" name="Shape 19"/>
          <p:cNvSpPr/>
          <p:nvPr/>
        </p:nvSpPr>
        <p:spPr>
          <a:xfrm>
            <a:off x="4846320" y="2468880"/>
            <a:ext cx="64008" cy="1143000"/>
          </a:xfrm>
          <a:prstGeom prst="rect">
            <a:avLst/>
          </a:prstGeom>
          <a:solidFill>
            <a:srgbClr val="00B943"/>
          </a:solidFill>
        </p:spPr>
      </p:sp>
      <p:sp>
        <p:nvSpPr>
          <p:cNvPr id="22" name="Text 20"/>
          <p:cNvSpPr/>
          <p:nvPr/>
        </p:nvSpPr>
        <p:spPr>
          <a:xfrm>
            <a:off x="5010912" y="2560320"/>
            <a:ext cx="3931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9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Java Streams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010912" y="2898648"/>
            <a:ext cx="3931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Functional Style Lookups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10912" y="3154680"/>
            <a:ext cx="39319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r>
              <a:rPr lang="en-US" sz="1200" i="1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stream().anyMatch() for login verification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749040"/>
            <a:ext cx="4206240" cy="1143000"/>
          </a:xfrm>
          <a:prstGeom prst="rect">
            <a:avLst/>
          </a:prstGeom>
          <a:solidFill>
            <a:srgbClr val="FFFFFF">
              <a:alpha val="8000"/>
            </a:srgbClr>
          </a:solidFill>
        </p:spPr>
      </p:sp>
      <p:sp>
        <p:nvSpPr>
          <p:cNvPr id="26" name="Shape 24"/>
          <p:cNvSpPr/>
          <p:nvPr/>
        </p:nvSpPr>
        <p:spPr>
          <a:xfrm>
            <a:off x="365760" y="3749040"/>
            <a:ext cx="64008" cy="1143000"/>
          </a:xfrm>
          <a:prstGeom prst="rect">
            <a:avLst/>
          </a:prstGeom>
          <a:solidFill>
            <a:srgbClr val="00B943"/>
          </a:solidFill>
        </p:spPr>
      </p:sp>
      <p:sp>
        <p:nvSpPr>
          <p:cNvPr id="27" name="Text 25"/>
          <p:cNvSpPr/>
          <p:nvPr/>
        </p:nvSpPr>
        <p:spPr>
          <a:xfrm>
            <a:off x="530352" y="3840480"/>
            <a:ext cx="3931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9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30352" y="4178808"/>
            <a:ext cx="3931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Regex-based Input Checks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0352" y="4434840"/>
            <a:ext cx="39319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Digits-only PIN, letters-only name, non-empty fields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46320" y="3749040"/>
            <a:ext cx="4206240" cy="1143000"/>
          </a:xfrm>
          <a:prstGeom prst="rect">
            <a:avLst/>
          </a:prstGeom>
          <a:solidFill>
            <a:srgbClr val="FFFFFF">
              <a:alpha val="8000"/>
            </a:srgbClr>
          </a:solidFill>
        </p:spPr>
      </p:sp>
      <p:sp>
        <p:nvSpPr>
          <p:cNvPr id="31" name="Shape 29"/>
          <p:cNvSpPr/>
          <p:nvPr/>
        </p:nvSpPr>
        <p:spPr>
          <a:xfrm>
            <a:off x="4846320" y="3749040"/>
            <a:ext cx="64008" cy="1143000"/>
          </a:xfrm>
          <a:prstGeom prst="rect">
            <a:avLst/>
          </a:prstGeom>
          <a:solidFill>
            <a:srgbClr val="00B943"/>
          </a:solidFill>
        </p:spPr>
      </p:sp>
      <p:sp>
        <p:nvSpPr>
          <p:cNvPr id="32" name="Text 30"/>
          <p:cNvSpPr/>
          <p:nvPr/>
        </p:nvSpPr>
        <p:spPr>
          <a:xfrm>
            <a:off x="5010912" y="3840480"/>
            <a:ext cx="39319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94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UI/UX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010912" y="4178808"/>
            <a:ext cx="3931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CCCC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Easypaisa Design System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010912" y="4434840"/>
            <a:ext cx="3931920" cy="40233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Green #00B943, rounded cards, shadow effects, icons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943"/>
          </a:solidFill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Code Highlights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1600200" cy="365760"/>
          </a:xfrm>
          <a:prstGeom prst="rect">
            <a:avLst/>
          </a:prstGeom>
          <a:solidFill>
            <a:srgbClr val="00B943"/>
          </a:solidFill>
        </p:spPr>
      </p:sp>
      <p:sp>
        <p:nvSpPr>
          <p:cNvPr id="6" name="Text 4"/>
          <p:cNvSpPr/>
          <p:nvPr/>
        </p:nvSpPr>
        <p:spPr>
          <a:xfrm>
            <a:off x="365760" y="1097280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Login Authentication (Streams)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8412480" cy="86868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8" name="Text 6"/>
          <p:cNvSpPr/>
          <p:nvPr/>
        </p:nvSpPr>
        <p:spPr>
          <a:xfrm>
            <a:off x="502920" y="1481328"/>
            <a:ext cx="8229600" cy="8321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boolean success = registeredUsers.stream()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.anyMatch(u -&gt; u.phone.equals(phone)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          &amp;&amp; u.pin.equals(pin));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1600200" cy="365760"/>
          </a:xfrm>
          <a:prstGeom prst="rect">
            <a:avLst/>
          </a:prstGeom>
          <a:solidFill>
            <a:srgbClr val="00B943"/>
          </a:solidFill>
        </p:spPr>
      </p:sp>
      <p:sp>
        <p:nvSpPr>
          <p:cNvPr id="10" name="Text 8"/>
          <p:cNvSpPr/>
          <p:nvPr/>
        </p:nvSpPr>
        <p:spPr>
          <a:xfrm>
            <a:off x="365760" y="2423160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PIN Validation (Regex)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788920"/>
            <a:ext cx="8412480" cy="86868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12" name="Text 10"/>
          <p:cNvSpPr/>
          <p:nvPr/>
        </p:nvSpPr>
        <p:spPr>
          <a:xfrm>
            <a:off x="502920" y="2807208"/>
            <a:ext cx="8229600" cy="8321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(!pin.matches("\\d+")) { showAlert(...); 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(pin.length() != 5) { showAlert(...); }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749040"/>
            <a:ext cx="1600200" cy="365760"/>
          </a:xfrm>
          <a:prstGeom prst="rect">
            <a:avLst/>
          </a:prstGeom>
          <a:solidFill>
            <a:srgbClr val="00B943"/>
          </a:solidFill>
        </p:spPr>
      </p:sp>
      <p:sp>
        <p:nvSpPr>
          <p:cNvPr id="14" name="Text 12"/>
          <p:cNvSpPr/>
          <p:nvPr/>
        </p:nvSpPr>
        <p:spPr>
          <a:xfrm>
            <a:off x="365760" y="3749040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Bill Payment Logic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4114800"/>
            <a:ext cx="8412480" cy="86868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16" name="Text 14"/>
          <p:cNvSpPr/>
          <p:nvPr/>
        </p:nvSpPr>
        <p:spPr>
          <a:xfrm>
            <a:off x="502920" y="4133088"/>
            <a:ext cx="8229600" cy="8321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double val = Double.parseDouble(amtF.getText());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if (type.getValue() != null &amp;&amp; val &lt;= currentBalance)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currentBalance -= val;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transactionLogs.add(type.getValue() + " Bill: -Rs. " + val);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9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FFFFFF">
              <a:alpha val="10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FFFFFF">
              <a:alpha val="12000"/>
            </a:srgbClr>
          </a:solidFill>
        </p:spPr>
      </p:sp>
      <p:sp>
        <p:nvSpPr>
          <p:cNvPr id="4" name="Text 2"/>
          <p:cNvSpPr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easypaisa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1143000"/>
            <a:ext cx="7315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Summary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1371600" y="2148840"/>
            <a:ext cx="6400800" cy="2651760"/>
          </a:xfrm>
          <a:prstGeom prst="rect">
            <a:avLst/>
          </a:prstGeom>
          <a:solidFill>
            <a:srgbClr val="FFFFFF">
              <a:alpha val="15000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1554480" y="2267712"/>
            <a:ext cx="6035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Complete JavaFX GUI replicating the Easypaisa mobile app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54480" y="2724912"/>
            <a:ext cx="6035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Sign Up with strict validation (name, phone, 5-digit PIN)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54480" y="3182112"/>
            <a:ext cx="6035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Sign In with phone &amp; PIN authentication via Java Streams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54480" y="3639312"/>
            <a:ext cx="6035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Bill Payment for Electric, Gas &amp; Water with balance checks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54480" y="4096512"/>
            <a:ext cx="60350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✅  Data persistence using File I/O between application sessions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709</Words>
  <Application>Microsoft Office PowerPoint</Application>
  <PresentationFormat>On-screen Show (16:9)</PresentationFormat>
  <Paragraphs>160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Bahnschrift SemiBold</vt:lpstr>
      <vt:lpstr>Calibri</vt:lpstr>
      <vt:lpstr>Comic Sans MS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Easypaisa JavaFX Application</dc:title>
  <dc:subject>PptxGenJS Presentation</dc:subject>
  <dc:creator>PptxGenJS</dc:creator>
  <cp:lastModifiedBy>Alryan Sajjad</cp:lastModifiedBy>
  <cp:revision>3</cp:revision>
  <dcterms:created xsi:type="dcterms:W3CDTF">2026-05-09T11:37:00Z</dcterms:created>
  <dcterms:modified xsi:type="dcterms:W3CDTF">2026-05-10T00:11:28Z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AD89CF487B77461981FF869B120313B8_13</vt:lpwstr>
  </property>
  <property fmtid="{D5CDD505-2E9C-101B-9397-08002B2CF9AE}" pid="3" name="KSOProductBuildVer">
    <vt:lpwstr>1033-12.1.0.25242</vt:lpwstr>
  </property>
</Properties>
</file>